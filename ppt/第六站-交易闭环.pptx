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二手奢侈品回收 · 全渠道全链路课程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第六站 · 交易闭环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 · 报价 · 成交 · 出货 · 复购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1168400" cy="411480"/>
          </a:xfrm>
          <a:prstGeom prst="roundRect">
            <a:avLst>
              <a:gd name="adj" fmla="val 13333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11880"/>
            <a:ext cx="116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重点交付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 一单的完整闭环 · 6.2 估价 · 6.3 报价与议价 · 6.4 成交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 出货 · 6.6 复购 · 6.7 贯穿全程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一件确认过的货，要走完五个环节这一单才算结束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529029" cy="10515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47088"/>
            <a:ext cx="15290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76856"/>
            <a:ext cx="1529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出货预判三问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32533" y="2217420"/>
            <a:ext cx="274320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61717" y="1691640"/>
            <a:ext cx="1529029" cy="105156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1717" y="1847088"/>
            <a:ext cx="15290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461717" y="2276856"/>
            <a:ext cx="1529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估出价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45610" y="2217420"/>
            <a:ext cx="274320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74794" y="1691640"/>
            <a:ext cx="1529029" cy="105156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4794" y="1847088"/>
            <a:ext cx="15290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374794" y="2276856"/>
            <a:ext cx="1529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报出去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58688" y="2217420"/>
            <a:ext cx="274320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87872" y="1691640"/>
            <a:ext cx="1529029" cy="105156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87872" y="1847088"/>
            <a:ext cx="15290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287872" y="2276856"/>
            <a:ext cx="1529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收进来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71765" y="2217420"/>
            <a:ext cx="274320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00949" y="1691640"/>
            <a:ext cx="1529029" cy="105156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00949" y="1847088"/>
            <a:ext cx="15290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00949" y="2276856"/>
            <a:ext cx="1529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卖出去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84842" y="2217420"/>
            <a:ext cx="274320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14026" y="1691640"/>
            <a:ext cx="1529029" cy="105156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114026" y="1847088"/>
            <a:ext cx="15290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10114026" y="2276856"/>
            <a:ext cx="152902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卖家再回来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461717" y="2926080"/>
            <a:ext cx="9181338" cy="45720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61717" y="2926080"/>
            <a:ext cx="918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886200"/>
            <a:ext cx="110944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成交完就直接出货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，所以五个环节合成一站讲——收的时候就想好从哪出，出完就回头维护卖家。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风控按环节挂：每个环节讲完，紧跟这个环节最容易犯的错。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原第八站的货品来源、协议、登记存证、交易资金、人身安全、税务和用人，大部分落在这一站。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33711" y="658368"/>
            <a:ext cx="57912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3711" y="658368"/>
            <a:ext cx="57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81866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一单的完整闭环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164996" y="2286000"/>
            <a:ext cx="9861702" cy="0"/>
          </a:xfrm>
          <a:prstGeom prst="line">
            <a:avLst/>
          </a:prstGeom>
          <a:noFill/>
          <a:ln w="25400">
            <a:solidFill>
              <a:srgbClr val="CBD0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6396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639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69109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6910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1353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01822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182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14066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34535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34535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246778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验货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67248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672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79491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签约付款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99960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999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712204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332673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3267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944917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65386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56538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177630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798099" y="205740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79809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410342" y="2624328"/>
            <a:ext cx="123271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3200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每一步谁做、留什么记录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206240"/>
            <a:ext cx="110944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为什么收和出要一起讲：收的那一刻，出货价和出货天数就已经决定了这一单赚不赚</a:t>
            </a:r>
            <a:endParaRPr lang="en-US" sz="21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一单一档：从第一张客户图到最后一笔回款，归进同一个档案（存证细节见 6.4.6）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33711" y="658368"/>
            <a:ext cx="57912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3711" y="658368"/>
            <a:ext cx="57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81866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出货预判三问，整站的总开关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3515258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2880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651760"/>
            <a:ext cx="311292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这货走哪个渠道出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338218" y="1645920"/>
            <a:ext cx="3515258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39386" y="182880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39386" y="2651760"/>
            <a:ext cx="311292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预计多少天能出掉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27797" y="1645920"/>
            <a:ext cx="3515258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8965" y="182880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2651760"/>
            <a:ext cx="311292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扣完手续费物流之后，到手价是多少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4206240"/>
            <a:ext cx="11094415" cy="1874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343400"/>
            <a:ext cx="1063721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里三问放在成交站，是为了弥补"渠道对照表在第九站，收货时用不上"而前置的补丁。合并之后出口知识就在估价环节开头（6.2.1），三问不再是补丁，而是整站的总开关——</a:t>
            </a: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收之前答不出这三个问题，就不该收。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67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55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5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5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87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1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1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7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7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19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93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3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21139" y="502920"/>
            <a:ext cx="2121916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1139" y="502920"/>
            <a:ext cx="2121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估价：从出口倒推收价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3041396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46120"/>
            <a:ext cx="304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原第六站 6.1–6.5 · 原 9.1 · 9.4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27196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27196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和鉴定一样，估价也有借力的路。</a:t>
            </a:r>
            <a:r>
              <a:rPr lang="en-US" sz="18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估不准不等于不能做</a:t>
            </a: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——上游报价、同行群、平台估价都能兜底。但长期一直用别人的价，自己永远建不起判断，所以两条线并讲。先讲出口，因为收价是从出货价倒推出来的。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出口先行：出货渠道全景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估价的外部依托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08990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估价的三个变量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行情从哪来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折价逻辑与到手价倒推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46778" y="608990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6.2.6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分品类估价实操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6.2.7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估价环节风控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出口先行：出货渠道全景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402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上游与同行直出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7249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同行群、批发市场、档口、上游大户，速度最快价格最低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367964" y="160020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9132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69132" y="22402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得物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9132" y="27249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寄卖与回收两条路、鉴别流程、手续费、账期、什么货适合走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87288" y="160020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88456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88456" y="22402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平台寄卖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388456" y="27249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红布林、只二、心上、胖虎 —— 门槛、佣金、回款周期对比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006611" y="160020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07779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07779" y="22402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直播间寄卖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07779" y="27249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怎么找主播、怎么分成、什么货在直播间走得动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1148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5720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端平台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05663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批量出货怎么走、报价怎么谈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3367964" y="393192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69132" y="41148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3569132" y="45720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自己零售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569132" y="505663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闲鱼、转转、朋友圈、小红书、抖音小店、门店，利润最高但最慢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187288" y="393192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88456" y="41148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388456" y="45720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拍卖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388456" y="505663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线上拍卖与拍卖行，什么货值得走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9006611" y="3931920"/>
            <a:ext cx="2636444" cy="2148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07779" y="41148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207779" y="457200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其他出口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9207779" y="505663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出口外贸、翻新改色后再售、拆件卖零配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估价的外部依托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36444" cy="16916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上游报价倒推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直接问上游这货能收多少，减掉自己的利润就是报价上限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367964" y="1600200"/>
            <a:ext cx="2636444" cy="16916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9132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同行报价群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569132" y="22677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怎么问、怎么甄别水分、怎么不暴露自己的客户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87288" y="1600200"/>
            <a:ext cx="2636444" cy="16916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8456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平台估价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2677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各回收平台的在线估价工具，准不准、怎么用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006611" y="1600200"/>
            <a:ext cx="2636444" cy="16916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7779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端平台批量报价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207779" y="2267712"/>
            <a:ext cx="2234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适合什么货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520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什么时候该用别人的价、什么时候必须自己算</a:t>
            </a:r>
            <a:endParaRPr lang="en-US" sz="18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长期风险</a:t>
            </a: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：一直依赖外部报价，利润会被上游锁死，且永远建不起自己的判断</a:t>
            </a:r>
            <a:endParaRPr lang="en-US" sz="18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从依赖到独立的过渡路径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3423818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5212080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先对答案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027322" y="557784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83938" y="5212080"/>
            <a:ext cx="3423818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57090" y="5212080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再自己报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862621" y="557784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219237" y="5212080"/>
            <a:ext cx="3423818" cy="73152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2389" y="5212080"/>
            <a:ext cx="32775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最后只在疑难件上问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估价的三个变量 · 行情从哪来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36432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810512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6.2.3 估价的三个变量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公价与市场行情价的区别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成色分级：全新 / 99 新 / 95 新 / 九成 / 八成，各级的判定标准（接第五站）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配件齐全度：包装、票据、保卡、防尘袋、多余扣，分别值多少钱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瑕疵怎么折价：磨损、变形、掉色、异味、修复痕迹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78728" y="1600200"/>
            <a:ext cx="536432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3048" y="1810512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6.2.4 行情从哪来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2423160"/>
            <a:ext cx="481568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得物、红布林、只二、心上、胖虎的成交价怎么看，</a:t>
            </a: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看的是挂价还是成交价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二奢查价小程序与工具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拍卖行与批发档口的价格参考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建自己的行情表，每周更新一次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行情波动的信号：什么时候该压价、什么时候该抢货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折价逻辑与到手价倒推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从零售价到回收价，中间扣掉的每一层分别是什么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品类系数、成色系数、配件系数、稀缺款溢价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流通速度直接影响报价</a:t>
            </a: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：好出的货可以让利抢单，难出的货必须压价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留多少利润给自己，留多少空间给下游渠道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走兜底渠道的货，成本里要多算哪几项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出货定价怎么定，留多少议价空间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各渠道的实际到手价怎么算：扣完手续费、物流、鉴定费之后还剩多少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同一件货在不同渠道的到手价对比实操</a:t>
            </a:r>
            <a:endParaRPr lang="en-US" sz="2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分品类估价实操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36444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22341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爱马仕、香奈儿、LV、迪奥、Gucci —— 热门款与冷门款差多少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67964" y="1600200"/>
            <a:ext cx="2636444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9132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69132" y="2267712"/>
            <a:ext cx="22341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劳力士、欧米茄、卡地亚 —— 公价、行情、有无保卡的差价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7288" y="1600200"/>
            <a:ext cx="2636444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8456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黄金珠宝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388456" y="2267712"/>
            <a:ext cx="22341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金价、工费、钻石证书、回收折算方式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611" y="1600200"/>
            <a:ext cx="2636444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7779" y="1783080"/>
            <a:ext cx="2234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其他品类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07779" y="2267712"/>
            <a:ext cx="22341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服饰、潮牌、数码、箱包配饰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 · 盲报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576218" cy="1874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429768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4800600"/>
            <a:ext cx="31738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先用第五站判定过的实物报一轮，鉴定结论直接接进估价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307738" y="4114800"/>
            <a:ext cx="3576218" cy="1874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08906" y="429768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4508906" y="4800600"/>
            <a:ext cx="31738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再摆二十件真货，每人独立盲报，对答案、讲差在哪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66837" y="4114800"/>
            <a:ext cx="3576218" cy="1874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68005" y="4297680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8268005" y="4800600"/>
            <a:ext cx="31738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评分口径：考折价逻辑和敢不敢报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6.2.7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估价环节风控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看挂价，不看成交价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估高了，收进来就亏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只认成交价（6.2.4）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行情表不更新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品牌调价、金价波动时高位收货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每周更新，大事件当天更新（6.2.4）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难出的货按好出的货估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压货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流通速度进系数（6.2.5）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成本漏算：送检费、物流、保价、平台佣金、资金占用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看着赚，实际亏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从到手价倒推（6.2.5）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在同行群问价，把客户的图原样发出去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客户被截胡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去掉可识别信息再问（6.2.2）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6.2.7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6.2A–F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估价环节风控（续）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同行群的价照单全收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被带偏，或者被故意报低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至少两个来源交叉验证（6.2.2）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永远只用上游的价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利润被上游锁死，自己永远建不起判断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先对答案，再自己报（6.2.2）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把平台在线估价当真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线上估价常常偏高，验货后才压价，拿它当基准就估高了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只当参考，以成交价为准（6.2.2）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翻新、改色、换件不单独折价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按原品估，出货时被下游打回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非真假问题单独折价（5.4、6.2.3）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出货预判三问答不上来就开始估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估出来的价没有出口撑着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三问先过（6.1）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67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55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5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5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87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1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1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7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7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19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93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3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21139" y="502920"/>
            <a:ext cx="2121916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1139" y="502920"/>
            <a:ext cx="2121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报价与议价：敢报、报得准、守得住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1674368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46120"/>
            <a:ext cx="167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原第六站 6.6–6.7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60168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60168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6.3A–C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报价是把估价变成客户能接受的数字，议价是守住这个数字。每一场议价都要先说得出自己的鉴定结论和估价依据。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报价策略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议价攻防 · 全场对练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6.3.3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报价环节风控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6.3A–C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报价策略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72579" cy="3474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9659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43200"/>
            <a:ext cx="1670243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先看货还是先报价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2804099" y="1783080"/>
            <a:ext cx="2072579" cy="3474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05267" y="19659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3005267" y="2743200"/>
            <a:ext cx="1670243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区间报价怎么留口子，留多少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5059558" y="1783080"/>
            <a:ext cx="2072579" cy="3474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0726" y="19659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5260726" y="2743200"/>
            <a:ext cx="1670243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二次压价怎么给客户一个能下台的理由</a:t>
            </a:r>
            <a:endParaRPr lang="en-US" sz="2050" dirty="0"/>
          </a:p>
        </p:txBody>
      </p:sp>
      <p:sp>
        <p:nvSpPr>
          <p:cNvPr id="16" name="Shape 14"/>
          <p:cNvSpPr/>
          <p:nvPr/>
        </p:nvSpPr>
        <p:spPr>
          <a:xfrm>
            <a:off x="7315017" y="1783080"/>
            <a:ext cx="2072579" cy="3474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16185" y="19659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516185" y="2743200"/>
            <a:ext cx="1670243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什么时候该果断放弃这一单</a:t>
            </a:r>
            <a:endParaRPr lang="en-US" sz="2050" dirty="0"/>
          </a:p>
        </p:txBody>
      </p:sp>
      <p:sp>
        <p:nvSpPr>
          <p:cNvPr id="19" name="Shape 17"/>
          <p:cNvSpPr/>
          <p:nvPr/>
        </p:nvSpPr>
        <p:spPr>
          <a:xfrm>
            <a:off x="9570476" y="1783080"/>
            <a:ext cx="2072579" cy="3474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1644" y="196596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771644" y="2743200"/>
            <a:ext cx="1670243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报价前先过一遍出货预判（6.1 的三问）</a:t>
            </a:r>
            <a:endParaRPr lang="en-US" sz="2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6.3A–C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议价攻防 · 全场对练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每个场景两人一组对练，全程录像回放。</a:t>
            </a: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每一场都必须先说出自己的鉴定结论和估价依据</a:t>
            </a: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——说不出依据的，退回 6.2.5 重来。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67004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04495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我就问问价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804099" y="248716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05267" y="267004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05267" y="304495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你报得太低了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059558" y="248716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60726" y="267004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260726" y="304495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别家报得比你高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315017" y="248716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16185" y="267004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16185" y="304495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我再想想 / 我跟家里商量一下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570476" y="248716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1644" y="267004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71644" y="304495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你能不能上门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548640" y="445312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63600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01091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你靠谱吗，是不是骗子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2804099" y="445312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05267" y="463600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005267" y="501091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要不要先寄给你看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5059558" y="445312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60726" y="463600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260726" y="501091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我当时买了小十万，你怎么才给这么点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315017" y="445312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16185" y="463600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516185" y="501091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怎么告诉客户他的货是假的（与 5.11 联动）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570476" y="4453128"/>
            <a:ext cx="2072579" cy="1783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71644" y="4636008"/>
            <a:ext cx="1670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9771644" y="5010912"/>
            <a:ext cx="1670243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同行来试探、套价：怎么识别、怎么应对、要不要拆穿</a:t>
            </a:r>
            <a:endParaRPr lang="en-US" sz="1650" dirty="0"/>
          </a:p>
          <a:p>
            <a:pPr indent="0" marL="0">
              <a:buNone/>
            </a:pPr>
            <a:r>
              <a:rPr lang="en-US" sz="1300" b="1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8.10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6.3A–C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报价环节风控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不看货就报死价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看了货只能往下压，客户觉得被骗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先看货，没看货最多给区间（6.3.1）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区间口子留得太大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客户只记上限，落差就是"骗子"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区间窄，条件说清（6.3.1）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二次压价不给理由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信任当场崩掉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给一个客户能下台的理由（6.3.1）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为抢单报高价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收进来就亏，或者出不掉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报价上限 = 到手价 − 自己的利润（6.2.5）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口头说"最高价""保证这个价"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做不到就是投诉和纠纷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只承诺条件，不承诺结果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6.3.3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6.3A–C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报价环节风控（续）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报价只在嘴上，不留记录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纠纷时说不清报过多少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报价写进标签和档案（3.4、6.4.6）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被同行套价还认真报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行情被拿去截你的客户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识别信号与应对（3.4、6.3.2）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客户一说"别家更高"就跟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利润被一步步挤光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按依据守价，该放就放（6.3.1）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真假还有疑问就先报了价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再改口，客户觉得你先抬后压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真假没定，不报价（5.11）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说不出依据硬报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被客户追问两句就崩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先讲鉴定结论和估价依据（6.3.2）</a:t>
                      </a:r>
                      <a:endParaRPr lang="en-US" sz="17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67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55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5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5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87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1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1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7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7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19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93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3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21139" y="502920"/>
            <a:ext cx="2121916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1139" y="502920"/>
            <a:ext cx="2121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成交：流程标准化，一步都不能省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3483864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4612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原第七站 · 原 6.8 · 原 8.2–8.5 · 8.9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69664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谈好价不等于成交。这一环把从验货到交付的每一步固化成流程，让学员不靠记性靠清单。原第八站的货品来源、协议、登记存证、交易资金、人身安全，主要挂在这一环。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收货流程 SOP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各场景成交流程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08990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线下与异地交易安全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6.4.4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货品来源核查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6.4.5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协议、单据与交接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46778" y="608990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6.4.6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登记、存证与档案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6.4.7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收货端的骗局与资金风险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944917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6.4.8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店面与陈列（有店的学员）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944917" y="608990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6.4.9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成交环节风控：最常见的错误方法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收货流程 SOP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1428" y="1572768"/>
            <a:ext cx="2148840" cy="402336"/>
          </a:xfrm>
          <a:prstGeom prst="roundRect">
            <a:avLst>
              <a:gd name="adj" fmla="val 1363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1428" y="15727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来源核查和登记存证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5848" y="1993392"/>
            <a:ext cx="0" cy="594360"/>
          </a:xfrm>
          <a:prstGeom prst="line">
            <a:avLst/>
          </a:prstGeom>
          <a:noFill/>
          <a:ln w="19050">
            <a:solidFill>
              <a:srgbClr val="A5382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242041" y="2606040"/>
            <a:ext cx="9707613" cy="0"/>
          </a:xfrm>
          <a:prstGeom prst="line">
            <a:avLst/>
          </a:prstGeom>
          <a:noFill/>
          <a:ln w="25400">
            <a:solidFill>
              <a:srgbClr val="CBD0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3441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3441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验货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00243" y="2377440"/>
            <a:ext cx="457200" cy="457200"/>
          </a:xfrm>
          <a:prstGeom prst="ellipse">
            <a:avLst/>
          </a:prstGeom>
          <a:solidFill>
            <a:srgbClr val="8F6E30"/>
          </a:solidFill>
          <a:ln w="12700">
            <a:solidFill>
              <a:srgbClr val="8F6E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400243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935442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出货预判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87045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87045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322244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173847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73847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09046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议价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60649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60649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095848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947450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4745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82650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34252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34252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69451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单据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10721054" y="2377440"/>
            <a:ext cx="457200" cy="457200"/>
          </a:xfrm>
          <a:prstGeom prst="ellipse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721054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256253" y="2944368"/>
            <a:ext cx="138680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41985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每一步的动作和话术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06908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来源核查和登记存证插在"确认"之前：先核查、登记、录像，再付款</a:t>
            </a:r>
            <a:endParaRPr lang="en-US" sz="19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现金、转账、对公，分别用在什么场景</a:t>
            </a:r>
            <a:endParaRPr lang="en-US" sz="19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什么情况必须当场拒收，不管价格多诱人</a:t>
            </a:r>
            <a:endParaRPr lang="en-US" sz="19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收货现场的记录规范：录什么、拍什么、存哪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各场景成交流程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36444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691640"/>
            <a:ext cx="2490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门店成交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67964" y="1691640"/>
            <a:ext cx="2636444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41116" y="1691640"/>
            <a:ext cx="2490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上门收货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691640"/>
            <a:ext cx="2636444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0440" y="1691640"/>
            <a:ext cx="2490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约见面交易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06611" y="1691640"/>
            <a:ext cx="2636444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9763" y="1691640"/>
            <a:ext cx="24901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异地邮寄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四种场景的流程差异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37560"/>
            <a:ext cx="1109441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撮合交易的三方流程：怎么保证自己不被跳单（跳单防范另见 2.2.2）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寄卖收货的流程与单据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走上游兜底的收货流程：什么时候先给上游看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大额交易的特殊流程</a:t>
            </a:r>
            <a:endParaRPr lang="en-US" sz="2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436303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36303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8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线下与异地交易安全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见面地点怎么选、带不带现金、一个人还是两个人去</a:t>
            </a:r>
            <a:endParaRPr lang="en-US" sz="21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当面验货的节奏：先看什么、什么时候说问题、什么时候给台阶</a:t>
            </a:r>
            <a:endParaRPr lang="en-US" sz="21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上门收货的安全流程</a:t>
            </a:r>
            <a:endParaRPr lang="en-US" sz="21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上门收货的人身安全：去之前做什么、报备给谁、什么单不接</a:t>
            </a:r>
            <a:endParaRPr lang="en-US" sz="21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大额现金的携带与交接</a:t>
            </a:r>
            <a:endParaRPr lang="en-US" sz="21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异地邮寄：验货流程、怎么发、保价、录像存证、纠纷处理</a:t>
            </a:r>
            <a:endParaRPr lang="en-US" sz="21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邮寄丢件、损坏、被调包的处理与索赔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48751" y="658368"/>
            <a:ext cx="1908048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48751" y="658368"/>
            <a:ext cx="1908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8.2 · 8.11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601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货品来源核查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赃物：怎么识别、身份登记怎么做、来源怎么问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收到赃物的实际后果</a:t>
            </a: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：货怎么处理、钱能不能追回、自己要担什么责任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抵押货、法拍物、公司资产货、离婚财产纠纷货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代卖货：卖家不是所有人的情况怎么办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未成年人、限制民事行为能力人卖货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第四站问诊时记下的来源异常信号，成交前逐条复核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旧货经营的登记与备案要求，见 1.9</a:t>
            </a:r>
            <a:endParaRPr lang="en-US" sz="20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收到赃物了</a:t>
            </a: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：第一时间做什么、找谁</a:t>
            </a:r>
            <a:endParaRPr lang="en-US" sz="2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46159" y="658368"/>
            <a:ext cx="131064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46159" y="65836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1990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协议、单据与交接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576218" cy="1600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830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回收协议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267712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关键条款、真假争议条款、反悔条款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07738" y="1600200"/>
            <a:ext cx="3576218" cy="1600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8906" y="17830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寄卖协议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08906" y="2267712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责任划分、丢损赔偿、期限与降价授权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66837" y="1600200"/>
            <a:ext cx="3576218" cy="1600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8005" y="17830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代收 / 撮合协议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68005" y="2267712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三方关系怎么写清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每份协议逐条讲关键点和常见坑，现场填自己的信息</a:t>
            </a:r>
            <a:endParaRPr lang="en-US" sz="20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回收单、收据、交接单，各自什么时候用</a:t>
            </a:r>
            <a:endParaRPr lang="en-US" sz="20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客户签字确认的关键项</a:t>
            </a:r>
            <a:endParaRPr lang="en-US" sz="20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货品入库登记与编号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46159" y="658368"/>
            <a:ext cx="131064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46159" y="65836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8.4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1990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登记、存证与档案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576218" cy="1600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7830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身份证登记规范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267712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登记什么、怎么存、隐私边界在哪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307738" y="1600200"/>
            <a:ext cx="3576218" cy="1600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8906" y="17830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全程录像规范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08906" y="2267712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什么时候开、录多久、存多久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66837" y="1600200"/>
            <a:ext cx="3576218" cy="1600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8005" y="17830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货品拍照存档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68005" y="2267712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拍哪几张、什么角度、怎么归档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聊天记录与转账凭证的保存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出了纠纷，哪些证据能用、哪些不能用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档案怎么建，一单一档还是按月归集</a:t>
            </a:r>
            <a:endParaRPr lang="en-US" sz="2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6.4.7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046159" y="658368"/>
            <a:ext cx="131064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46159" y="658368"/>
            <a:ext cx="131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8.5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1990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收货端的骗局与资金风险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收货端的常见诈骗套路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576218" cy="137160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2402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调包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724912"/>
            <a:ext cx="31738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（验的是真货，交的是假货）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7738" y="2057400"/>
            <a:ext cx="3576218" cy="137160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08906" y="22402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假鉴定报告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066837" y="2057400"/>
            <a:ext cx="3576218" cy="137160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8005" y="2240280"/>
            <a:ext cx="31738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异地邮寄骗局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68005" y="2724912"/>
            <a:ext cx="317388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（寄空盒、寄假货、以"没收到钱"反咬）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4904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客户事后反悔怎么处理：回收协议里的反悔条款怎么用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付款凭证怎么留：转账备注写清货品和单号，卖家签收付款确认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付款方式的选择：大额走转账或对公并备注用途，少用现金（分账见 1.9）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第三方担保与平台交易的使用时机</a:t>
            </a:r>
            <a:endParaRPr lang="en-US" sz="1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6.4.8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店面与陈列（有店的学员）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装修预算与风格，不要一上来就砸钱</a:t>
            </a:r>
            <a:endParaRPr lang="en-US" sz="215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柜台、灯光、陈列、监控</a:t>
            </a:r>
            <a:endParaRPr lang="en-US" sz="215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门头与橱窗的获客作用</a:t>
            </a:r>
            <a:endParaRPr lang="en-US" sz="215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店内动线与洽谈区设计</a:t>
            </a:r>
            <a:endParaRPr lang="en-US" sz="215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门店的防盗与应急 </a:t>
            </a:r>
            <a:r>
              <a:rPr lang="en-US" sz="17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8.9</a:t>
            </a:r>
            <a:endParaRPr lang="en-US" sz="215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客户上门闹事：现场处理与证据保全 </a:t>
            </a:r>
            <a:r>
              <a:rPr lang="en-US" sz="17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8.11</a:t>
            </a:r>
            <a:endParaRPr lang="en-US" sz="2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给十个真实场景，每人独立判断：收还是不收、走哪个渠道、到手价多少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38218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39386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39386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其中至少三个是必须拒收的场景，看谁被价格诱惑住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127797" y="1828800"/>
            <a:ext cx="3515258" cy="3200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8965" y="2011680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328965" y="2834640"/>
            <a:ext cx="311292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把自己的信息填进回收、寄卖、撮合三份协议</a:t>
            </a:r>
            <a:endParaRPr lang="en-US" sz="2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6.4.9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成交环节风控：最常见的错误方法</a:t>
            </a:r>
            <a:endParaRPr lang="en-US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错误方法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不问来源、不登记身份证就收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收进赃物：货被扣，钱追不回，还要配合调查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来源核查加身份登记（6.4.4、6.4.6）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先付款后验货，尤其是异地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钱出去了，货是假的或者根本不来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验货后付款，或走担保（6.4.7）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不录像、不拍照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纠纷时说不清，被反咬调包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全程录像，关键部位拍照（6.4.6）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不签协议、不签字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客户反悔要回货，你拿不出凭据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回收协议加签字确认（6.4.5）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验完的货离开视线再交割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被调包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验完封签，当场交割（5.12、6.4.7）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一个人带大额现金上门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人身和财产安全出问题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两人同行、出发前报备、少带现金（6.4.3）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被价格诱惑，收下该拒的货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收进赃物、问题货、出不掉的货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必拒清单，价格再低也不收（6.4.1）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6.4.9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6.4A–G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成交环节风控：最常见的错误方法（续）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错误方法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撮合时不签三方协议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买卖双方绕过你私下成交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代收撮合协议（6.4.2、6.4.5）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寄卖不写丢损和降价授权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货丢了、卖不动时说不清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寄卖协议（6.4.5）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和未成年人或非所有人交易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交易可能无效，还要退货担责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身份核验与权属确认（6.4.4）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大额转账不备注、不走对公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流水说不清，账户被风控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分账与备注（1.9、6.4.7）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邮寄收货不要求保价、不录开箱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丢件或空盒无法索赔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保价加开箱录像（6.4.3）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出货预判三问答不上来也收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收进来出不掉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三问先过（6.1）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客户情绪激动时继续谈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冲突升级，现场失控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停止谈判，保全证据（6.4.8）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67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55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5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5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87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1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1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7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7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19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93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3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21139" y="502920"/>
            <a:ext cx="2121916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1139" y="502920"/>
            <a:ext cx="2121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出货：收得进来，更要卖得出去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294894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46120"/>
            <a:ext cx="2948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原第九站 · 原 8.5 · 8.9 · 8.10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34740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34740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整条链路的收口。压货是这行最大的死因，不是不会收货，是收进来出不掉。成交完就直接进入这一环：渠道在估价时已经想好（6.2.1），这里讲怎么分流、怎么收钱、怎么不压货。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什么货走什么渠道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上游与同行渠道怎么搭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零售端的运营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6.5.4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出货端的骗局与资金风险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6.5.5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库存、保管与资金周转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944917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6.5.6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出货环节风控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什么货走什么渠道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热门款、冷门款、高价货、低价货的分流原则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有瑕疵的货怎么出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真假存疑的货怎么处理，绝对不能往哪里出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一张对照表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188969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657600"/>
            <a:ext cx="17433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货品特征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93203" y="40462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49819" y="3657600"/>
            <a:ext cx="188969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2971" y="3657600"/>
            <a:ext cx="17433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首选渠道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94382" y="40462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50998" y="3657600"/>
            <a:ext cx="188969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24150" y="3657600"/>
            <a:ext cx="17433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备选渠道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95561" y="40462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177" y="3657600"/>
            <a:ext cx="188969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25329" y="3657600"/>
            <a:ext cx="17433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预计天数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96740" y="404622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53356" y="3657600"/>
            <a:ext cx="188969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26508" y="3657600"/>
            <a:ext cx="17433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到手价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4754880"/>
            <a:ext cx="11094415" cy="137160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89204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明知有问题还出</a:t>
            </a: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85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：知假售假是刑事风险。真假存疑的货只能退回、送检或转撮合，不能包装成正品卖</a:t>
            </a:r>
            <a:endParaRPr lang="en-US" sz="1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64328" cy="2926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49619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给二十件货的信息，每人现场分渠道，填完首选、备选、预计天数、到手价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364328" cy="2926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2834640"/>
            <a:ext cx="49619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对答案，重点看谁把难出的货放进了慢渠道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上游与同行渠道怎么搭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怎么进圈、找谁、第一次怎么开口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建立信任的过程：先小单后大单，先验后款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账期与风控：什么情况下绝对不能先发货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长期合作的分成与互相调货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同行群的规矩与黑话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把上游从"兜底方"发展成"稳定出口"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上游压价与跑路的预警信号（见 5.2）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8.10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同行合作的分成纠纷：分成比例、结算周期、退货责任提前写清 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8.10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零售端的运营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货品拍摄与详情页：零售和回收的拍法完全不同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定价心理与议价空间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买家的疑虑怎么打消：验货、退换、保真承诺的边界（呼应 2.3.8）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售后与退货处理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瑕疵、翻新、换件必须写明</a:t>
            </a: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1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：隐瞒就可能被认定为欺诈，面临退款加三倍赔偿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平台的七天无理由在二手类目怎么适用，上架前查清</a:t>
            </a:r>
            <a:endParaRPr lang="en-US" sz="2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48751" y="658368"/>
            <a:ext cx="1908048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48751" y="658368"/>
            <a:ext cx="1908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8.5 · 8.10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601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出货端的骗局与资金风险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先款先货的原则：什么情况绝对不能先发货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账期风险：给同行、给平台、给上游，各自的账期怎么控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大额转账与到账确认，假转账截图的识别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假币与验钞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冒充买家、退货调包（假货换真货）：发货前拍特征点、录打包，退货到了先验再退款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客户恶意退货、投诉纠纷怎么处理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寄售平台压货与结算风险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第三方担保与平台交易的使用时机（同 6.4.7）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库存、保管与资金周转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周转天数怎么算，多少天算健康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滞销预警：超过多少天必须降价出手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已经压货了怎么办：降价、换渠道、拆件、同行调换、打包甩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库存结构管理：什么价位段该占多少比例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回到第一站的零库存路径：什么阶段该退回撮合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资金链预警：什么信号出现必须停止收货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货品保管：保险柜、监控、门禁、分散存放 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8.9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货品保险与快递保价，各自保什么、不保什么 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8.9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出货环节风控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真假存疑的货包装成正品出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知假售假，刑事风险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退回、送检或转撮合（6.5.1）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瑕疵、翻新、换件不写明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被认定欺诈，退款加三倍赔偿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详情页如实披露（6.5.3）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零售写"保真""假一赔十"，却兑现不了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虚假宣传加赔付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承诺写成做得到的条件（6.5.3、2.3.8）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没见到钱先发货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货款两空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先款后货，或走担保（6.5.4）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只看转账截图就发货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截图是假的，货没了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以到账为准（6.5.4）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给同行、上游放账期不设上限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对方一跑，钱全没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单家账期上限（6.5.4）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6.5.6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6.5A–E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出货环节风控（续）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发货前不拍特征点、不录打包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买家退回一件假货，说是你发的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发货前留特征点和打包录像（6.5.4）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寄售平台一压就是几个月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资金被锁，行情过了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设寄售期限和撤回线（6.5.4）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滞销货舍不得降价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越压越亏，占住现金流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滞销预警线（6.5.5）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货和现金放在一处，没有监控和保险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一次失窃就是全部家当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保险柜、分散存放、上保险（6.5.5）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高价货寄出不保价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丢件只赔运费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足额保价（6.5.5）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同行合作分成只靠口头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分成纠纷，合作破裂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分成写清楚（6.5.2）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27000" marB="1270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67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55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5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5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87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1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1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7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7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19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93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3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21139" y="502920"/>
            <a:ext cx="2121916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1139" y="502920"/>
            <a:ext cx="2121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复购：让一个客户变成一条渠道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93472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46120"/>
            <a:ext cx="93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原第十站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20520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20520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6.6A–D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前面都是从零找人。这一环解决的是不用每天从零开始，同时验证你 all in 的那条路到底对不对。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老客户维护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客户变渠道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6.6.4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数据与复盘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6.6.5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复购环节风控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6.6A–D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老客户维护 · 转介绍 · 客户变渠道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6.6.1 老客户维护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成交之后四十八小时内做什么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客户台账怎么记、多久触达一次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卖过一次的人，为什么大概率还会卖第二次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分层维护：高价值客户、普通客户、白嫖客户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38218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6818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6.6.2 转介绍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老带新奖励怎么设计，给钱还是给服务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什么时机开口要转介绍成功率最高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转介绍话术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转介绍来的客户怎么接，和陌生客户有什么不同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127797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6.6.3 客户变渠道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让客户帮你收身边的货，分成怎么给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从客户里挑线人和合伙人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线人的管理与结算，怎么防止被反向利用</a:t>
            </a:r>
            <a:endParaRPr lang="en-US" sz="175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7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线人和代收人以你的名义在外收货：出了问题算谁的，授权范围写清楚</a:t>
            </a:r>
            <a:endParaRPr lang="en-US" sz="1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6.6A–D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数据与复盘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每周只看六个数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696669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15503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加微数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428189" y="2057400"/>
            <a:ext cx="1696669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01341" y="2057400"/>
            <a:ext cx="15503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开口数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307738" y="2057400"/>
            <a:ext cx="1696669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80890" y="2057400"/>
            <a:ext cx="15503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187288" y="2057400"/>
            <a:ext cx="1696669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0440" y="2057400"/>
            <a:ext cx="15503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成交数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066837" y="2057400"/>
            <a:ext cx="1696669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9989" y="2057400"/>
            <a:ext cx="15503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毛利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9946386" y="2057400"/>
            <a:ext cx="1696669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19538" y="2057400"/>
            <a:ext cx="155036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周转天数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4612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哪个环节掉率最高就补哪个，不要平均用力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分路径拆数据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：你 all in 的那条路，成本、周期、成交率跑出来是多少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all in 的对错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：三个判断口径——继续加码、加第二条路、还是换路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用这六个数回头校准第一站的测算表 —— 假设换成真实数据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风控三问进周复盘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95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：本周有没有没登记就收的单、有没有没签协议的单、有没有出事的单</a:t>
            </a:r>
            <a:endParaRPr lang="en-US" sz="1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6.6A–D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复购环节风控</a:t>
            </a:r>
            <a:endParaRPr lang="en-US" sz="28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老客户的货就不验了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熟客最容易让你省步骤，出事的往往就是熟客的货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老客户照样走全流程（6.4.1）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转介绍奖励层层往上返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变味成拉人头，有合规风险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奖励只给直接介绍人一层（6.6.2）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线人以你的名义在外收货，没有授权边界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他收错的货、欠的钱，找你算账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书面写清授权范围（6.6.3）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线人结算只靠口头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被反向利用，分成扯皮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线人结算表（6.6.3）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6.6.5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6.6A–D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87535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87535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5404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复购环节风控（续）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客户台账随手存，谁都能看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客户信息泄露，员工带走客户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台账限权限、定期备份（3.1、6.7.2）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成交后就不联系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卖家下次找了别人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 小时回访（6.6.1）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只看成交数，不拆路径、不看周转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 in 的对错无从判断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六个数分路径拆（6.6.4）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复盘只算钱，不查风控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同一个漏洞一直漏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周复盘加风控三问（6.6.4）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39700" marR="139700" marT="165100" marB="1651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67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总开关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55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29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29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471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5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5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487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61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61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3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7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7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519420" y="50292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93740" y="502920"/>
            <a:ext cx="7416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93740" y="502920"/>
            <a:ext cx="74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521139" y="502920"/>
            <a:ext cx="2121916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21139" y="502920"/>
            <a:ext cx="21219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贯穿：账 · 人 · 纠纷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贯穿全程：账、人与纠纷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3800856" cy="384048"/>
          </a:xfrm>
          <a:prstGeom prst="roundRect">
            <a:avLst>
              <a:gd name="adj" fmla="val 14286"/>
            </a:avLst>
          </a:prstGeom>
          <a:solidFill>
            <a:srgbClr val="4B2A24"/>
          </a:solidFill>
          <a:ln w="12700">
            <a:solidFill>
              <a:srgbClr val="4B2A2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3246120"/>
            <a:ext cx="3800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8.3 · 8.6 · 8.8 · 8.10 · 8.11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6656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6656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6.7A–C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这三件事不属于某一个环节，每一单都会碰到：钱怎么记、人怎么管、出了事怎么办。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账与税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员工与内控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纠纷与危机处理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6.7A–C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账与税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2164080" cy="86868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57400"/>
            <a:ext cx="2017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进货台账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41320" y="2057400"/>
            <a:ext cx="2164080" cy="86868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4472" y="2057400"/>
            <a:ext cx="2017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销售台账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334000" y="2057400"/>
            <a:ext cx="2164080" cy="86868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07152" y="2057400"/>
            <a:ext cx="2017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库存台账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057400"/>
            <a:ext cx="38706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怎么记、谁来记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110944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进项凭证的难题：从个人手里收货没有发票怎么办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销项与开票：什么情况客户会要发票，怎么应对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个人账户大额流水的风险</a:t>
            </a:r>
            <a:endParaRPr lang="en-US" sz="2100" dirty="0"/>
          </a:p>
          <a:p>
            <a:pPr marL="228600" indent="-228600">
              <a:spcAft>
                <a:spcPts val="19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起步时的主体选择、公私分账、代账，见 1.9</a:t>
            </a:r>
            <a:endParaRPr lang="en-US" sz="2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6.7A–C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员工与内控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53186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第一个员工什么时候招、招什么样的人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私收私卖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：员工绕过公司自己收货，怎么防、怎么查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监守自盗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：货品交接、库存盘点、双人复核、监控覆盖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员工跳单：私下对接客户和渠道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提成与考核纠纷：怎么写清楚才不吵架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324448" y="1645920"/>
            <a:ext cx="53186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竞业与保密：能约束到什么程度，实际有没有用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劳动合同、试用期、社保的基本合规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员工协议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：劳动合同、保密协议、竞业限制、货品交接责任——逐条讲关键点和常见坑，现场填自己的信息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员工带走客户见 3.1，员工看走眼的责任划分见 5.12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1094415" cy="13716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93776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用人风险和团队复制是两件事。</a:t>
            </a: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用人风险是防守</a:t>
            </a:r>
            <a:r>
              <a:rPr lang="en-US" sz="16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——找第一个人帮你出镜、帮你收货就得懂，所以留在正课，拆在各站。</a:t>
            </a:r>
            <a:r>
              <a:rPr lang="en-US" sz="16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团队复制是进攻</a:t>
            </a:r>
            <a:r>
              <a:rPr lang="en-US" sz="16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——有五个人才用得上，放在结营后的选修加餐。</a:t>
            </a:r>
            <a:endParaRPr lang="en-US" sz="16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6.7.3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6.7A–C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纠纷与危机处理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被客户投诉、被起诉：分别怎么应对（被平台处罚见 2.3.8）</a:t>
            </a:r>
            <a:endParaRPr lang="en-US" sz="21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什么时候必须找律师，找什么类型的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每类危机的第一小时该做什么——这一站的应急卡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2072579" cy="9601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630168"/>
            <a:ext cx="19262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收到赃物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804099" y="3630168"/>
            <a:ext cx="2072579" cy="9601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7251" y="3630168"/>
            <a:ext cx="19262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客户反悔闹事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59558" y="3630168"/>
            <a:ext cx="2072579" cy="9601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32710" y="3630168"/>
            <a:ext cx="19262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被调包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017" y="3630168"/>
            <a:ext cx="2072579" cy="9601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88169" y="3630168"/>
            <a:ext cx="19262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假转账截图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570476" y="3630168"/>
            <a:ext cx="2072579" cy="9601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43628" y="3630168"/>
            <a:ext cx="19262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上游或同行跑路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834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各站的应急卡在结营汇成一张（7.3）</a:t>
            </a:r>
            <a:endParaRPr lang="en-US" sz="2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第六站 · 出课标准 · 按环节分列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435608"/>
            <a:ext cx="9905695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一张自己的行情表 · 一份外部报价来源清单（含至少 1 个上游）· 一张填完的渠道对照表 · 盲报评分记录</a:t>
            </a:r>
            <a:endParaRPr lang="en-US" sz="17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76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95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375916"/>
            <a:ext cx="9905695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十大场景议价对练录像 · 一份报价决策卡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8323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95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001518"/>
            <a:ext cx="9905695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一套自己的收货 SOP 流程卡（含来源核查与存证步骤）· 填好自己信息的回收、寄卖、撮合协议 · 填好信息的回收单与交接单 · 十场景判断评分记录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2353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941826"/>
            <a:ext cx="9905695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 3 个已加上的真实出货渠道联系人 · 20 件货分渠道评分记录 · 库存周转预警线设置 · 单家账期上限</a:t>
            </a:r>
            <a:endParaRPr lang="en-US" sz="17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6384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882134"/>
            <a:ext cx="9905695" cy="665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建好的客户台账 · 转介绍话术与奖励方案 · 周复盘表（六个数口径已确认，含路径来源拆分和风控三问）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0415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</a:t>
            </a:r>
            <a:endParaRPr lang="en-US" sz="195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5822442"/>
            <a:ext cx="9905695" cy="351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一份建好的三本台账 · 员工协议（已有员工或准备招人的）· 本站的危机应急卡</a:t>
            </a:r>
            <a:endParaRPr lang="en-US" sz="1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第六站 · 交付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交易闭环诊断表（29 张可填写的表，Word 版在 word 文件夹）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029968"/>
            <a:ext cx="9905695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估价折算表 · 外部报价来源清单 · 行情来源清单 · 渠道对照表 · 各平台佣金账期对比表 · 分品类速查表 · 盲报评分记录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0659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824886"/>
            <a:ext cx="9905695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全场景成交话术库（十大场景）· 报价决策卡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1378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737360" y="3332074"/>
            <a:ext cx="9905695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 SOP 流程卡（含出货预判三问）· 回收单 / 收据 / 交接单模板 · 入库登记表 · 分场景成交流程图 · 线下与异地交易安全流程 · 回收协议 · 寄卖协议 · 代收撮合协议 · 身份登记表 · 存证规范手册 · 来源核查清单与必拒清单 · 诈骗套路图鉴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96435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414723"/>
            <a:ext cx="9905695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出货渠道联系清单 · 库存周转表 · 滞销处理流程 · 零售详情页模板 · 零售披露规范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0362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737360" y="4921910"/>
            <a:ext cx="9905695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客户台账模板 · 客户分层维护表 · 转介绍话术与奖励方案模板 · 线人结算表 · 周复盘表（分路径版）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1081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贯穿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37360" y="5429098"/>
            <a:ext cx="9905695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进销存台账模板 · 税务合规要点手册（账与税篇）· 员工协议与保密竞业模板 · 用人风险防范清单 · 危机应急卡（交易篇）· 各环节错误清单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第六站 · 交易闭环</dc:title>
  <dc:subject>PptxGenJS Presentation</dc:subject>
  <dc:creator>PptxGenJS</dc:creator>
  <cp:lastModifiedBy>PptxGenJS</cp:lastModifiedBy>
  <cp:revision>1</cp:revision>
  <dcterms:created xsi:type="dcterms:W3CDTF">2026-09-28T14:45:24Z</dcterms:created>
  <dcterms:modified xsi:type="dcterms:W3CDTF">2026-09-28T14:45:24Z</dcterms:modified>
</cp:coreProperties>
</file>