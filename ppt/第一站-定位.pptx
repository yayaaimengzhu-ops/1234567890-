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3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88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二手奢侈品回收 · 全渠道全链路课程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73736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第一站 · 定位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8346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E3C9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把认知打开，把手上的牌盘清楚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9377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 行业全景 · 1.2 认知升级 · 1.3 五种链路模式 · 1.4 算账 · 1.5 资源盘点 · 1.6 零库存与安全通道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1.7 暂定定位 · 1.8 前 30 天 · 1.9 经营底座 · 1.10 风险地图 · 1.11 本站风控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457200"/>
            <a:ext cx="9905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这一站做三件事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515258" cy="274320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1031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926080"/>
            <a:ext cx="28751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打开认知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520440"/>
            <a:ext cx="28751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A59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让学员知道这行远不止他以为的那一种做法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38218" y="1828800"/>
            <a:ext cx="3515258" cy="274320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58258" y="21031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4658258" y="2926080"/>
            <a:ext cx="28751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盘清资源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4658258" y="3520440"/>
            <a:ext cx="28751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A59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让他知道自己该 all in 哪条路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127797" y="1828800"/>
            <a:ext cx="3515258" cy="274320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47837" y="21031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8447837" y="2926080"/>
            <a:ext cx="28751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摊开风险地图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8447837" y="3520440"/>
            <a:ext cx="28751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A59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让他知道这门生意会在哪几处出事、每一处在哪一站拆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120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三件事做完，第二站的选路才有依据。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746943" y="658368"/>
            <a:ext cx="896112" cy="384048"/>
          </a:xfrm>
          <a:prstGeom prst="roundRect">
            <a:avLst>
              <a:gd name="adj" fmla="val 14286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746943" y="658368"/>
            <a:ext cx="896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1.1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457200"/>
            <a:ext cx="8899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行业全景：货从哪来，钱从哪赚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F2F4EF"/>
          </a:solidFill>
          <a:ln w="12700">
            <a:solidFill>
              <a:srgbClr val="CBD0C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6916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端卖家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953512" y="2080260"/>
            <a:ext cx="356616" cy="0"/>
          </a:xfrm>
          <a:prstGeom prst="line">
            <a:avLst/>
          </a:prstGeom>
          <a:noFill/>
          <a:ln w="25400">
            <a:solidFill>
              <a:srgbClr val="8F6E3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383280" y="169164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383280" y="16916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回收商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788152" y="2080260"/>
            <a:ext cx="356616" cy="0"/>
          </a:xfrm>
          <a:prstGeom prst="line">
            <a:avLst/>
          </a:prstGeom>
          <a:noFill/>
          <a:ln w="25400">
            <a:solidFill>
              <a:srgbClr val="8F6E3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217920" y="169164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F2F4EF"/>
          </a:solidFill>
          <a:ln w="12700">
            <a:solidFill>
              <a:srgbClr val="CBD0C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0" y="16916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渠道 / 同行 / 平台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622792" y="2080260"/>
            <a:ext cx="356616" cy="0"/>
          </a:xfrm>
          <a:prstGeom prst="line">
            <a:avLst/>
          </a:prstGeom>
          <a:noFill/>
          <a:ln w="25400">
            <a:solidFill>
              <a:srgbClr val="8F6E3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052560" y="169164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F2F4EF"/>
          </a:solidFill>
          <a:ln w="12700">
            <a:solidFill>
              <a:srgbClr val="CBD0C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052560" y="16916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端买家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2560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7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一条完整的货流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154680"/>
            <a:ext cx="1109441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二手奢侈品行业现状：市场规模、增速、为什么这两年能做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行业角色全景：回收商、鉴定师、渠道商、寄卖平台、批发档口、拍卖行、维修保养、清洗改色、上游大户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每个角色赚什么钱、门槛多高、天花板在哪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我们站在回收端：</a:t>
            </a:r>
            <a:r>
              <a:rPr lang="en-US" sz="17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靠差价和周转赚钱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行业的季节性与周期：什么时候货多、什么时候好出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746943" y="658368"/>
            <a:ext cx="896112" cy="384048"/>
          </a:xfrm>
          <a:prstGeom prst="roundRect">
            <a:avLst>
              <a:gd name="adj" fmla="val 14286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746943" y="658368"/>
            <a:ext cx="896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1.2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457200"/>
            <a:ext cx="8899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认知升级：你以为的，和实际的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508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九个误解，逐个拆（1–5）</a:t>
            </a:r>
            <a:endParaRPr lang="en-US" sz="1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11094415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3566160"/>
                <a:gridCol w="688817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你以为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实际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6B77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01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以为不会鉴定就不能入行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实际有三条路绕开：上游兜底、机构送检、撮合规避。会鉴定是加分项，不是入场券（第五站展开）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6B77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02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以为必须自己出镜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实际可以不露脸、可以找人出镜、可以做图文，也可以根本不走内容路径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6B77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03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以为必须有店有钱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实际零库存起步的三条路都不需要压资金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6B77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04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以为短视频是唯一的路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实际关系、付费、本地、平台四条路都能独立出单，看你手上有什么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6B77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05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以为这行暴利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实际毛利区间是多少、周转怎么吃掉毛利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746943" y="658368"/>
            <a:ext cx="896112" cy="384048"/>
          </a:xfrm>
          <a:prstGeom prst="roundRect">
            <a:avLst>
              <a:gd name="adj" fmla="val 14286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746943" y="658368"/>
            <a:ext cx="896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1.2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663379" y="658368"/>
            <a:ext cx="973836" cy="384048"/>
          </a:xfrm>
          <a:prstGeom prst="roundRect">
            <a:avLst>
              <a:gd name="adj" fmla="val 14286"/>
            </a:avLst>
          </a:prstGeom>
          <a:solidFill>
            <a:srgbClr val="F3DFDA"/>
          </a:solidFill>
          <a:ln w="12700">
            <a:solidFill>
              <a:srgbClr val="F3DFD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63379" y="658368"/>
            <a:ext cx="973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538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风控 新增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457200"/>
            <a:ext cx="781629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认知升级：你以为的，和实际的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508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九个误解，逐个拆（6–9）</a:t>
            </a:r>
            <a:endParaRPr lang="en-US" sz="1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11094415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3566160"/>
                <a:gridCol w="688817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你以为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实际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6B77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06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以为要做全品类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实际先做透一个品类的人跑得最快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6B77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07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以为收得越多赚得越多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实际压货是这行最大的死因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6B77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08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以为客户都想卖高价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实际卖家的动机分四类，只有一类是价格敏感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6B77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09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A538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以为风控是做大以后的事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实际第一单就可能碰上赃物、调包、假转账截图，出一次事就可能直接出局。所以风控不单独成站，每一站都讲这一步会在哪里出事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2400" marR="152400" marT="139700" marB="1397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746943" y="658368"/>
            <a:ext cx="896112" cy="384048"/>
          </a:xfrm>
          <a:prstGeom prst="roundRect">
            <a:avLst>
              <a:gd name="adj" fmla="val 14286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746943" y="658368"/>
            <a:ext cx="896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1.2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457200"/>
            <a:ext cx="8899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这行真正的门槛在哪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4592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不是鉴定技术，是获客能力和风险意识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697480"/>
            <a:ext cx="536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赚钱的人在赚哪几种钱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154680"/>
            <a:ext cx="5364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差价 · 周转 · 信息差 · 渠道差 · 服务费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278728" y="2697480"/>
            <a:ext cx="536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你可能不知道的几条路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278728" y="3154680"/>
            <a:ext cx="5364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居间撮合 · 代收 · 导流分成 · 做渠道商 · 鉴定服务 · 寄卖代运营 · 给同行供货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4572000"/>
            <a:ext cx="11094415" cy="118872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4736592"/>
            <a:ext cx="10637215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9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这一节是整门课的认知锚。多数人卡在门口，不是因为不会做，是因为以为自己必须先成为某种人才能开始。把这九条拆开，剩下的五站才有人愿意听下去。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746943" y="658368"/>
            <a:ext cx="896112" cy="384048"/>
          </a:xfrm>
          <a:prstGeom prst="roundRect">
            <a:avLst>
              <a:gd name="adj" fmla="val 14286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746943" y="658368"/>
            <a:ext cx="896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1.3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457200"/>
            <a:ext cx="8899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五种链路模式，分别适合什么人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2072579" cy="237744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828800"/>
            <a:ext cx="17068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纯回收赚差价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377440"/>
            <a:ext cx="170681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59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压资金，单笔利润高，吃估价能力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804099" y="1645920"/>
            <a:ext cx="2072579" cy="237744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986979" y="1828800"/>
            <a:ext cx="17068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居间撮合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986979" y="2377440"/>
            <a:ext cx="170681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59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先谈好买家再收，零库存零压力，利润薄但适合起步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59558" y="1645920"/>
            <a:ext cx="2072579" cy="237744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42438" y="1828800"/>
            <a:ext cx="17068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寄卖代卖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242438" y="2377440"/>
            <a:ext cx="170681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59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不压钱，赚佣金，回款周期长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315017" y="1645920"/>
            <a:ext cx="2072579" cy="237744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97897" y="1828800"/>
            <a:ext cx="17068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鉴定服务收费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7497897" y="2377440"/>
            <a:ext cx="170681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59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轻资产，靠专业变现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9570476" y="1645920"/>
            <a:ext cx="2072579" cy="237744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753356" y="1828800"/>
            <a:ext cx="17068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门店零售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9753356" y="2377440"/>
            <a:ext cx="170681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59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重资产，靠客流和溢价，回本慢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38912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组合打法：</a:t>
            </a:r>
            <a:r>
              <a:rPr lang="en-US" sz="17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回收为主，撮合和寄卖做补充，大货吃不下就转撮合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每种模式各自扛什么风险 </a:t>
            </a:r>
            <a:r>
              <a:rPr lang="en-US" sz="1700" b="1" dirty="0">
                <a:solidFill>
                  <a:srgbClr val="A538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风控</a:t>
            </a:r>
            <a:r>
              <a:rPr lang="en-US" sz="17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：真假风险、压货风险、资金风险、纠纷风险分别落在谁身上——同一件货换一种模式，风险就换一个人扛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746943" y="658368"/>
            <a:ext cx="896112" cy="384048"/>
          </a:xfrm>
          <a:prstGeom prst="roundRect">
            <a:avLst>
              <a:gd name="adj" fmla="val 14286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746943" y="658368"/>
            <a:ext cx="896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1.4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457200"/>
            <a:ext cx="8899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把这门生意的账算清楚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0020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单笔毛利怎么算：收价、出价、差价，再扣物流、鉴定费、平台手续费、退货损耗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各品类的真实毛利区间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行业基准区间：各品类的参考成交率、参考客单毛利、参考复购次数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017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一个客户值多少钱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3474720"/>
            <a:ext cx="1828800" cy="640080"/>
          </a:xfrm>
          <a:prstGeom prst="roundRect">
            <a:avLst>
              <a:gd name="adj" fmla="val 8571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4747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成交率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2468880" y="347472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017520" y="3474720"/>
            <a:ext cx="1828800" cy="640080"/>
          </a:xfrm>
          <a:prstGeom prst="roundRect">
            <a:avLst>
              <a:gd name="adj" fmla="val 8571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017520" y="34747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客单毛利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937760" y="347472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5486400" y="3474720"/>
            <a:ext cx="1828800" cy="640080"/>
          </a:xfrm>
          <a:prstGeom prst="roundRect">
            <a:avLst>
              <a:gd name="adj" fmla="val 8571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0" y="34747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复购次数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434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月目标倒推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48640" y="4892040"/>
            <a:ext cx="1874520" cy="640080"/>
          </a:xfrm>
          <a:prstGeom prst="rect">
            <a:avLst/>
          </a:prstGeom>
          <a:solidFill>
            <a:srgbClr val="F2F4EF"/>
          </a:solidFill>
          <a:ln w="12700">
            <a:solidFill>
              <a:srgbClr val="CBD0C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489204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想赚多少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459736" y="5212080"/>
            <a:ext cx="338328" cy="0"/>
          </a:xfrm>
          <a:prstGeom prst="line">
            <a:avLst/>
          </a:prstGeom>
          <a:noFill/>
          <a:ln w="25400">
            <a:solidFill>
              <a:srgbClr val="8F6E3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2834640" y="4892040"/>
            <a:ext cx="1874520" cy="640080"/>
          </a:xfrm>
          <a:prstGeom prst="rect">
            <a:avLst/>
          </a:prstGeom>
          <a:solidFill>
            <a:srgbClr val="F2F4EF"/>
          </a:solidFill>
          <a:ln w="12700">
            <a:solidFill>
              <a:srgbClr val="CBD0C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834640" y="489204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成交几单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745736" y="5212080"/>
            <a:ext cx="338328" cy="0"/>
          </a:xfrm>
          <a:prstGeom prst="line">
            <a:avLst/>
          </a:prstGeom>
          <a:noFill/>
          <a:ln w="25400">
            <a:solidFill>
              <a:srgbClr val="8F6E3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120640" y="4892040"/>
            <a:ext cx="1874520" cy="640080"/>
          </a:xfrm>
          <a:prstGeom prst="rect">
            <a:avLst/>
          </a:prstGeom>
          <a:solidFill>
            <a:srgbClr val="F2F4EF"/>
          </a:solidFill>
          <a:ln w="12700">
            <a:solidFill>
              <a:srgbClr val="CBD0C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120640" y="489204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谈几个客户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031736" y="5212080"/>
            <a:ext cx="338328" cy="0"/>
          </a:xfrm>
          <a:prstGeom prst="line">
            <a:avLst/>
          </a:prstGeom>
          <a:noFill/>
          <a:ln w="25400">
            <a:solidFill>
              <a:srgbClr val="8F6E30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406640" y="4892040"/>
            <a:ext cx="1874520" cy="640080"/>
          </a:xfrm>
          <a:prstGeom prst="rect">
            <a:avLst/>
          </a:prstGeom>
          <a:solidFill>
            <a:srgbClr val="F2F4EF"/>
          </a:solidFill>
          <a:ln w="12700">
            <a:solidFill>
              <a:srgbClr val="CBD0C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406640" y="489204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加几个微信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9317736" y="5212080"/>
            <a:ext cx="338328" cy="0"/>
          </a:xfrm>
          <a:prstGeom prst="line">
            <a:avLst/>
          </a:prstGeom>
          <a:noFill/>
          <a:ln w="25400">
            <a:solidFill>
              <a:srgbClr val="8F6E30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692640" y="4892040"/>
            <a:ext cx="1874520" cy="64008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692640" y="489204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每天做几个动作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746943" y="658368"/>
            <a:ext cx="896112" cy="384048"/>
          </a:xfrm>
          <a:prstGeom prst="roundRect">
            <a:avLst>
              <a:gd name="adj" fmla="val 14286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746943" y="658368"/>
            <a:ext cx="896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1.4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457200"/>
            <a:ext cx="8899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把这门生意的账算清楚（续）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00200"/>
            <a:ext cx="11094415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动作量按路径换算：走内容路径是发几条视频，走关系路径是打几个电话，走本地路径是跑几家店，走付费路径是花多少钱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周转率比毛利率更重要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多少钱起步、第一个月这笔钱怎么花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把风险算进成本 </a:t>
            </a:r>
            <a:r>
              <a:rPr lang="en-US" sz="1700" b="1" dirty="0">
                <a:solidFill>
                  <a:srgbClr val="A538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风控</a:t>
            </a:r>
            <a:r>
              <a:rPr lang="en-US" sz="17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：看走眼、退货、资金占用、登记存证和送检的成本按比例计提，不算这一项的测算表永远偏乐观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160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57200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现场填测算表，当场念出自己每天要完成的动作量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48640" y="5257800"/>
            <a:ext cx="11094415" cy="86868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5422392"/>
            <a:ext cx="10637215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9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基准数据必须先备好，否则新手填出来的是想象。允许按自己选的品类取值，当场标注"这是假设，结营前校准"。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1.5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125151" y="658368"/>
            <a:ext cx="1517904" cy="384048"/>
          </a:xfrm>
          <a:prstGeom prst="roundRect">
            <a:avLst>
              <a:gd name="adj" fmla="val 14286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25151" y="658368"/>
            <a:ext cx="1517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1.5A · 1.5B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457200"/>
            <a:ext cx="827806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我手上已经有什么 —— 八类底牌，逐项盘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2636444" cy="224028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7373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194560"/>
            <a:ext cx="22706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人脉存量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651760"/>
            <a:ext cx="22706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A59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通讯录、微信好友数、已加的群、老同学老同事、亲戚邻居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367964" y="1600200"/>
            <a:ext cx="2636444" cy="224028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50844" y="17373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550844" y="2194560"/>
            <a:ext cx="22706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职业与身份资产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550844" y="2651760"/>
            <a:ext cx="22706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A59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现在或过去的职业带来的信任度，能接触到什么人群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187288" y="1600200"/>
            <a:ext cx="2636444" cy="224028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70168" y="17373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370168" y="2194560"/>
            <a:ext cx="22706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线上存量资产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370168" y="2651760"/>
            <a:ext cx="22706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A59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已有账号、粉丝、社群、公众号、闲鱼号、朋友圈体量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9006611" y="1600200"/>
            <a:ext cx="2636444" cy="224028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89491" y="17373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9189491" y="2194560"/>
            <a:ext cx="22706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线下存量资产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9189491" y="2651760"/>
            <a:ext cx="22706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A59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门店、客流、场地、库存、车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48640" y="4023360"/>
            <a:ext cx="2636444" cy="224028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1520" y="41605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731520" y="4617720"/>
            <a:ext cx="22706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行业关系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" y="5074920"/>
            <a:ext cx="22706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A59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金店、典当行、修表店、洗护店、名品折扣、美容院、会所、房产中介、保险、二手车、婚庆、律师、财务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3367964" y="4023360"/>
            <a:ext cx="2636444" cy="224028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550844" y="41605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3550844" y="4617720"/>
            <a:ext cx="22706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客户名单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3550844" y="5074920"/>
            <a:ext cx="22706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A59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做过其他生意积累的客户，哪些人群和二奢重合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6187288" y="4023360"/>
            <a:ext cx="2636444" cy="224028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370168" y="41605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2000" dirty="0"/>
          </a:p>
        </p:txBody>
      </p:sp>
      <p:sp>
        <p:nvSpPr>
          <p:cNvPr id="33" name="Text 31"/>
          <p:cNvSpPr txBox="1"/>
          <p:nvPr/>
        </p:nvSpPr>
        <p:spPr>
          <a:xfrm>
            <a:off x="6370168" y="4617720"/>
            <a:ext cx="22706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地缘与圈层</a:t>
            </a:r>
            <a:endParaRPr lang="en-US" sz="1700" dirty="0"/>
          </a:p>
        </p:txBody>
      </p:sp>
      <p:sp>
        <p:nvSpPr>
          <p:cNvPr id="34" name="Text 32"/>
          <p:cNvSpPr txBox="1"/>
          <p:nvPr/>
        </p:nvSpPr>
        <p:spPr>
          <a:xfrm>
            <a:off x="6370168" y="5074920"/>
            <a:ext cx="22706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A59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本地社群、商会、老乡会、车友会、宝妈群、业主群、健身房、宠物群、兴趣圈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9006611" y="4023360"/>
            <a:ext cx="2636444" cy="224028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189491" y="41605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2000" dirty="0"/>
          </a:p>
        </p:txBody>
      </p:sp>
      <p:sp>
        <p:nvSpPr>
          <p:cNvPr id="37" name="Text 35"/>
          <p:cNvSpPr txBox="1"/>
          <p:nvPr/>
        </p:nvSpPr>
        <p:spPr>
          <a:xfrm>
            <a:off x="9189491" y="4617720"/>
            <a:ext cx="22706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时间、资金与配合资源</a:t>
            </a:r>
            <a:endParaRPr lang="en-US" sz="1700" dirty="0"/>
          </a:p>
        </p:txBody>
      </p:sp>
      <p:sp>
        <p:nvSpPr>
          <p:cNvPr id="38" name="Text 36"/>
          <p:cNvSpPr txBox="1"/>
          <p:nvPr/>
        </p:nvSpPr>
        <p:spPr>
          <a:xfrm>
            <a:off x="9189491" y="5074920"/>
            <a:ext cx="22706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A59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全职兼职、每天几小时、启动资金、身边有没有能帮你出镜的人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1.5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125151" y="658368"/>
            <a:ext cx="1517904" cy="384048"/>
          </a:xfrm>
          <a:prstGeom prst="roundRect">
            <a:avLst>
              <a:gd name="adj" fmla="val 14286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25151" y="658368"/>
            <a:ext cx="1517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1.5A · 1.5B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457200"/>
            <a:ext cx="827806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真实性校验：把形容词换成数字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57200"/>
                <a:gridCol w="844265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8F6E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"人脉广"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8F6E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→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能直接打电话不尴尬的有几个？其中和二奢人群重合的有几个？上次联系是什么时候？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8F6E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"有行业关系"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8F6E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→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能直接约出来吃饭的有几家？谈过合作没有？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8F6E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"有客户名单"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8F6E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→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名单上有多少人？多久没联系了？还认得你吗？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8F6E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"有账号"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8F6E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→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真实粉丝多少？最近三条数据？还能不能发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8F6E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"有预算"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8F6E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→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能亏掉不影响生活的是多少？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48640" y="43434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校验后重新排序，圈出经得起数字检验的三张牌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548640" y="4983480"/>
            <a:ext cx="11094415" cy="114300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5148072"/>
            <a:ext cx="10637215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9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这一节是整门课的分岔口，也是最容易自欺的一节。All in 一条真实存在的路是对的；all in 一条自以为存在的路，比分散做还危险。所以盘点必须走完校验，形容词一律换成可数的数字。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1.6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125151" y="658368"/>
            <a:ext cx="1517904" cy="384048"/>
          </a:xfrm>
          <a:prstGeom prst="roundRect">
            <a:avLst>
              <a:gd name="adj" fmla="val 14286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25151" y="658368"/>
            <a:ext cx="1517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1.6A · 1.6B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457200"/>
            <a:ext cx="827806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零库存起步路径与新手安全通道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002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零库存怎么起步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057400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三条不压钱的路：居间撮合、代收、先谈好买家再收货</a:t>
            </a:r>
            <a:endParaRPr lang="en-US" sz="15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第一个月只做撮合能赚到什么、赚不到什么</a:t>
            </a:r>
            <a:endParaRPr lang="en-US" sz="15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什么时候可以开始压第一笔货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1600200"/>
            <a:ext cx="6796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安全通道：风险敞口随能力递增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846320" y="2103120"/>
            <a:ext cx="6796735" cy="804672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0" y="2103120"/>
            <a:ext cx="1188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阶段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2103120"/>
            <a:ext cx="5196535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只做撮合，或只碰有小票保卡的低价品类，一律走机构鉴定或上游兜底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257800" y="3035808"/>
            <a:ext cx="6385255" cy="804672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40680" y="3035808"/>
            <a:ext cx="1188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 阶段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675120" y="3035808"/>
            <a:ext cx="4785055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可自收，但单笔上限 X 元，判不准的一律送检或找同行复核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669280" y="3968496"/>
            <a:ext cx="5973775" cy="804672"/>
          </a:xfrm>
          <a:prstGeom prst="rect">
            <a:avLst/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852160" y="3968496"/>
            <a:ext cx="1188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阶段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086600" y="3968496"/>
            <a:ext cx="4373575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放开品类和金额，按自己的判断收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4846320" y="5029200"/>
            <a:ext cx="67967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三个阶段分别对应第五站鉴定能力的哪一级</a:t>
            </a:r>
            <a:endParaRPr lang="en-US" sz="15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50" b="1" dirty="0">
                <a:solidFill>
                  <a:srgbClr val="A538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止损线：</a:t>
            </a:r>
            <a:r>
              <a:rPr lang="en-US" sz="15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单笔最多亏多少、连续几单看走眼就必须停下来复盘</a:t>
            </a:r>
            <a:endParaRPr lang="en-US" sz="15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1.7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125151" y="658368"/>
            <a:ext cx="1517904" cy="384048"/>
          </a:xfrm>
          <a:prstGeom prst="roundRect">
            <a:avLst>
              <a:gd name="adj" fmla="val 14286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25151" y="658368"/>
            <a:ext cx="1517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1.7A · 1.7B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457200"/>
            <a:ext cx="827806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给自己定位（暂定版）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914400" cy="548640"/>
          </a:xfrm>
          <a:prstGeom prst="roundRect">
            <a:avLst>
              <a:gd name="adj" fmla="val 10000"/>
            </a:avLst>
          </a:prstGeom>
          <a:solidFill>
            <a:srgbClr val="F2F4EF"/>
          </a:solidFill>
          <a:ln w="12700">
            <a:solidFill>
              <a:srgbClr val="CBD0C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6459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00200" y="1645920"/>
            <a:ext cx="914400" cy="548640"/>
          </a:xfrm>
          <a:prstGeom prst="roundRect">
            <a:avLst>
              <a:gd name="adj" fmla="val 10000"/>
            </a:avLst>
          </a:prstGeom>
          <a:solidFill>
            <a:srgbClr val="F2F4EF"/>
          </a:solidFill>
          <a:ln w="12700">
            <a:solidFill>
              <a:srgbClr val="CBD0C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600200" y="16459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651760" y="1645920"/>
            <a:ext cx="914400" cy="548640"/>
          </a:xfrm>
          <a:prstGeom prst="roundRect">
            <a:avLst>
              <a:gd name="adj" fmla="val 10000"/>
            </a:avLst>
          </a:prstGeom>
          <a:solidFill>
            <a:srgbClr val="F2F4EF"/>
          </a:solidFill>
          <a:ln w="12700">
            <a:solidFill>
              <a:srgbClr val="CBD0C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651760" y="16459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黄金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703320" y="1645920"/>
            <a:ext cx="914400" cy="548640"/>
          </a:xfrm>
          <a:prstGeom prst="roundRect">
            <a:avLst>
              <a:gd name="adj" fmla="val 10000"/>
            </a:avLst>
          </a:prstGeom>
          <a:solidFill>
            <a:srgbClr val="F2F4EF"/>
          </a:solidFill>
          <a:ln w="12700">
            <a:solidFill>
              <a:srgbClr val="CBD0C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703320" y="16459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珠宝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754880" y="1645920"/>
            <a:ext cx="914400" cy="548640"/>
          </a:xfrm>
          <a:prstGeom prst="roundRect">
            <a:avLst>
              <a:gd name="adj" fmla="val 10000"/>
            </a:avLst>
          </a:prstGeom>
          <a:solidFill>
            <a:srgbClr val="F2F4EF"/>
          </a:solidFill>
          <a:ln w="12700">
            <a:solidFill>
              <a:srgbClr val="CBD0C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754880" y="16459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服饰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806440" y="1645920"/>
            <a:ext cx="914400" cy="548640"/>
          </a:xfrm>
          <a:prstGeom prst="roundRect">
            <a:avLst>
              <a:gd name="adj" fmla="val 10000"/>
            </a:avLst>
          </a:prstGeom>
          <a:solidFill>
            <a:srgbClr val="F2F4EF"/>
          </a:solidFill>
          <a:ln w="12700">
            <a:solidFill>
              <a:srgbClr val="CBD0C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06440" y="16459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潮牌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858000" y="1645920"/>
            <a:ext cx="914400" cy="548640"/>
          </a:xfrm>
          <a:prstGeom prst="roundRect">
            <a:avLst>
              <a:gd name="adj" fmla="val 10000"/>
            </a:avLst>
          </a:prstGeom>
          <a:solidFill>
            <a:srgbClr val="F2F4EF"/>
          </a:solidFill>
          <a:ln w="12700">
            <a:solidFill>
              <a:srgbClr val="CBD0C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0" y="16459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数码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1645920"/>
            <a:ext cx="35506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难度 · 利润 · 周转 · 货源量  四项对比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2514600"/>
            <a:ext cx="11094415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品类怎么选：包 / 表 / 黄金 / 珠宝 / 服饰 / 潮牌 / 数码 —— 难度、利润、周转、货源量四项对比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新手从哪个品类切入最不容易死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有店还是无店、全职还是兼职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人设方向：鉴定师、回收老板、本地上门服务，选一个别混着做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区域定位：只做本地，还是接全国邮寄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548640" y="5257800"/>
            <a:ext cx="11094415" cy="91440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77240" y="5422392"/>
            <a:ext cx="106372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9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这一节做的是暂定假设。学员此刻还不知道各品类的鉴定难度（第五站）和出货难度（第六站出货环节），现在锁死必然选错。结营前会带着后五站的信息回来重填。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1.8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746943" y="658368"/>
            <a:ext cx="896112" cy="384048"/>
          </a:xfrm>
          <a:prstGeom prst="roundRect">
            <a:avLst>
              <a:gd name="adj" fmla="val 14286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746943" y="658368"/>
            <a:ext cx="896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1.8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457200"/>
            <a:ext cx="8899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 30 天你会遇到什么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459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真实节奏：前两周大概率没单、发的东西没反馈、加的人不回消息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423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会遇到的四件事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2602154" cy="100584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880360"/>
            <a:ext cx="260215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同行套价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3379394" y="2880360"/>
            <a:ext cx="2602154" cy="100584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379394" y="2880360"/>
            <a:ext cx="260215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客户放鸽子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210148" y="2880360"/>
            <a:ext cx="2602154" cy="100584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0148" y="2880360"/>
            <a:ext cx="260215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报价被嫌低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9040901" y="2880360"/>
            <a:ext cx="2602154" cy="1005840"/>
          </a:xfrm>
          <a:prstGeom prst="rect">
            <a:avLst/>
          </a:prstGeom>
          <a:solidFill>
            <a:srgbClr val="F3DFDA"/>
          </a:solidFill>
          <a:ln w="12700">
            <a:solidFill>
              <a:srgbClr val="F3DFD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040901" y="2880360"/>
            <a:ext cx="260215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A538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第一次看走眼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29768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什么时候该坚持、什么时候该换打法：三个可量化的判断口径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不同路径的第一单通常在第几天来——预期要分路径给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1.9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513771" y="658368"/>
            <a:ext cx="1129284" cy="384048"/>
          </a:xfrm>
          <a:prstGeom prst="roundRect">
            <a:avLst>
              <a:gd name="adj" fmla="val 14286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3771" y="658368"/>
            <a:ext cx="11292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1.9A–C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186623" y="658368"/>
            <a:ext cx="2217420" cy="384048"/>
          </a:xfrm>
          <a:prstGeom prst="roundRect">
            <a:avLst>
              <a:gd name="adj" fmla="val 14286"/>
            </a:avLst>
          </a:prstGeom>
          <a:solidFill>
            <a:srgbClr val="F3DFDA"/>
          </a:solidFill>
          <a:ln w="12700">
            <a:solidFill>
              <a:srgbClr val="F3DFD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186623" y="658368"/>
            <a:ext cx="22174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538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风控 迁自 8.3 · 8.6 · 8.8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457200"/>
            <a:ext cx="6339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经营底座：主体、账户、协议与合伙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600200"/>
            <a:ext cx="536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主体与资质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057400"/>
            <a:ext cx="536432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个体户还是公司，什么阶段该注册，各自的税负差异</a:t>
            </a:r>
            <a:endParaRPr lang="en-US" sz="15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经营范围怎么写，旧货经营需要什么资质</a:t>
            </a:r>
            <a:endParaRPr lang="en-US" sz="15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旧货经营的登记与备案要求（按当地规定核实）</a:t>
            </a:r>
            <a:endParaRPr lang="en-US" sz="15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什么阶段该找代账、找什么样的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6278728" y="1600200"/>
            <a:ext cx="536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账户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278728" y="2057400"/>
            <a:ext cx="536432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私账公账分开，为什么必须分</a:t>
            </a:r>
            <a:endParaRPr lang="en-US" sz="15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收货付款、出货收款、个人生活三个账户分开，起步第一天就分——混在一起，流水说不清，账也算不清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6278728" y="4160520"/>
            <a:ext cx="1666189" cy="73152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78728" y="4160520"/>
            <a:ext cx="166618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收货付款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127797" y="4160520"/>
            <a:ext cx="1666189" cy="73152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127797" y="4160520"/>
            <a:ext cx="166618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出货收款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976866" y="4160520"/>
            <a:ext cx="1666189" cy="73152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976866" y="4160520"/>
            <a:ext cx="166618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个人生活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278728" y="4983480"/>
            <a:ext cx="5364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7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三个账户分开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1.9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513771" y="658368"/>
            <a:ext cx="1129284" cy="384048"/>
          </a:xfrm>
          <a:prstGeom prst="roundRect">
            <a:avLst>
              <a:gd name="adj" fmla="val 14286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3771" y="658368"/>
            <a:ext cx="11292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1.9A–C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186623" y="658368"/>
            <a:ext cx="2217420" cy="384048"/>
          </a:xfrm>
          <a:prstGeom prst="roundRect">
            <a:avLst>
              <a:gd name="adj" fmla="val 14286"/>
            </a:avLst>
          </a:prstGeom>
          <a:solidFill>
            <a:srgbClr val="F3DFDA"/>
          </a:solidFill>
          <a:ln w="12700">
            <a:solidFill>
              <a:srgbClr val="F3DFD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186623" y="658368"/>
            <a:ext cx="22174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538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风控 迁自 8.3 · 8.6 · 8.8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457200"/>
            <a:ext cx="6339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经营底座（续）：协议总览与合伙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600200"/>
            <a:ext cx="536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协议总览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057400"/>
            <a:ext cx="536432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这门生意要签的八份协议：回收、寄卖、代收撮合（6.4.5）、异业（2.2.2）、上游（5.2）、出镜人（2.3.4）、员工（6.7.2）、合伙（本节）——每份在它发生的那一站讲、那一站现场填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什么情况必须签、什么情况口头也行、签了怎么保管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278728" y="1600200"/>
            <a:ext cx="536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合伙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278728" y="2057400"/>
            <a:ext cx="536432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合伙人风险：出资、决策权、退出机制、闹掰了货和客户怎么分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合伙协议：出资、分工、分成、退出机制——逐条讲关键点和常见坑，现场填自己的信息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亲友合伙最容易碍于情面不签，而闹掰时最伤的也是这一种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892040"/>
            <a:ext cx="11094415" cy="118872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5056632"/>
            <a:ext cx="10637215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9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这一节只讲起步时就要定下来的底座。三本账、发票、流水要等有了交易才挂得住，放在第六站 6.7.1。涉及法律和税务的内容讲的是风险意识和常见做法，具体条款以当地规定和律师、会计的意见为准。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1.10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0669219" y="658368"/>
            <a:ext cx="973836" cy="384048"/>
          </a:xfrm>
          <a:prstGeom prst="roundRect">
            <a:avLst>
              <a:gd name="adj" fmla="val 14286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69219" y="658368"/>
            <a:ext cx="973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1.10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730691" y="658368"/>
            <a:ext cx="1828800" cy="384048"/>
          </a:xfrm>
          <a:prstGeom prst="roundRect">
            <a:avLst>
              <a:gd name="adj" fmla="val 14286"/>
            </a:avLst>
          </a:prstGeom>
          <a:solidFill>
            <a:srgbClr val="F3DFDA"/>
          </a:solidFill>
          <a:ln w="12700">
            <a:solidFill>
              <a:srgbClr val="F3DFD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730691" y="6583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538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风控 新增 · 迁自 8.1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457200"/>
            <a:ext cx="688360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风险地图：这门生意会在哪里出事</a:t>
            </a:r>
            <a:endParaRPr lang="en-US" sz="2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5303520"/>
                <a:gridCol w="387065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风险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典型事故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在哪一站拆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真假与品相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收到高仿；翻新、改装货按原厂价收进来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8F6E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第五站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货品来源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收到赃物、抵押货、离婚纠纷货，货被扣、钱追不回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8F6E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第四站看信号 · 第六站成交环节核查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定价与库存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估高了；收了出不掉，压货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8F6E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第六站估价、出货环节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交易与资金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调包、假转账截图、账期收不回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8F6E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第六站成交、出货环节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平台与内容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违禁词限流、虚假宣传被投诉、封号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8F6E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第二站 · 第三站 · 第四站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合同与纠纷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口头约定扯皮、卖家反悔、被起诉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8F6E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各站协议 · 第六站 6.7.3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税务与合规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大额流水被冻卡、收货没有进项凭证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8F6E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本站 1.9 · 第六站 6.7.1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用人与合作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出镜人带走粉丝、员工私收私卖、上游跑路、异业跳单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8F6E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本站 1.9 · 第二、三、五站 · 第六站 6.7.2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人身与资产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上门收货遇险、现金被抢、邮寄丢件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8F6E3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第六站成交、出货环节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1.10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0669219" y="658368"/>
            <a:ext cx="973836" cy="384048"/>
          </a:xfrm>
          <a:prstGeom prst="roundRect">
            <a:avLst>
              <a:gd name="adj" fmla="val 14286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69219" y="658368"/>
            <a:ext cx="973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1.10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730691" y="658368"/>
            <a:ext cx="1828800" cy="384048"/>
          </a:xfrm>
          <a:prstGeom prst="roundRect">
            <a:avLst>
              <a:gd name="adj" fmla="val 14286"/>
            </a:avLst>
          </a:prstGeom>
          <a:solidFill>
            <a:srgbClr val="F3DFDA"/>
          </a:solidFill>
          <a:ln w="12700">
            <a:solidFill>
              <a:srgbClr val="F3DFD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730691" y="6583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538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风控 新增 · 迁自 8.1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457200"/>
            <a:ext cx="688360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风险地图：怎么读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6002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严重度排序：哪些会亏钱、哪些会封号、哪些会摊上官司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48640" y="2103120"/>
            <a:ext cx="2377440" cy="73152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1031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亏钱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3154680" y="2103120"/>
            <a:ext cx="2377440" cy="731520"/>
          </a:xfrm>
          <a:prstGeom prst="rect">
            <a:avLst/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154680" y="21031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封号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760720" y="2103120"/>
            <a:ext cx="2377440" cy="731520"/>
          </a:xfrm>
          <a:prstGeom prst="rect">
            <a:avLst/>
          </a:prstGeom>
          <a:solidFill>
            <a:srgbClr val="F3DFDA"/>
          </a:solidFill>
          <a:ln w="12700">
            <a:solidFill>
              <a:srgbClr val="F3DFD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760720" y="21031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A538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摊上官司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1546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每站末尾的"本站风控"怎么读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48640" y="3611880"/>
            <a:ext cx="2377440" cy="68580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36118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错误做法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2980944" y="3954780"/>
            <a:ext cx="301752" cy="0"/>
          </a:xfrm>
          <a:prstGeom prst="line">
            <a:avLst/>
          </a:prstGeom>
          <a:noFill/>
          <a:ln w="25400">
            <a:solidFill>
              <a:srgbClr val="8F6E3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337560" y="3611880"/>
            <a:ext cx="2377440" cy="68580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337560" y="36118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最坏会怎样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5769864" y="3954780"/>
            <a:ext cx="301752" cy="0"/>
          </a:xfrm>
          <a:prstGeom prst="line">
            <a:avLst/>
          </a:prstGeom>
          <a:noFill/>
          <a:ln w="25400">
            <a:solidFill>
              <a:srgbClr val="8F6E3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126480" y="3611880"/>
            <a:ext cx="2377440" cy="68580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126480" y="36118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怎么防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44348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59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不只讲怎么防，更讲防不住会怎样——新手不重视登记和合同，多半是因为没人告诉过他最坏情况长什么样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48640" y="5074920"/>
            <a:ext cx="11094415" cy="109728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7240" y="5239512"/>
            <a:ext cx="1063721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9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节只摊地图，不展开。展开放在每一站末尾：学员在哪一步做事，就在哪一步学这一步的错。集中讲的时候学员没有挂靠对象，用的时候又想不起来——这是取消第八站的原因。全部红线的汇总表和自查表放在结营 7.3。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1.11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0669219" y="658368"/>
            <a:ext cx="973836" cy="384048"/>
          </a:xfrm>
          <a:prstGeom prst="roundRect">
            <a:avLst>
              <a:gd name="adj" fmla="val 14286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69219" y="658368"/>
            <a:ext cx="973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1.11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585655" y="658368"/>
            <a:ext cx="973836" cy="384048"/>
          </a:xfrm>
          <a:prstGeom prst="roundRect">
            <a:avLst>
              <a:gd name="adj" fmla="val 14286"/>
            </a:avLst>
          </a:prstGeom>
          <a:solidFill>
            <a:srgbClr val="F3DFDA"/>
          </a:solidFill>
          <a:ln w="12700">
            <a:solidFill>
              <a:srgbClr val="F3DFD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585655" y="658368"/>
            <a:ext cx="973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538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风控 新增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457200"/>
            <a:ext cx="773856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本站风控：定位阶段最常见的错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5087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59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定位错了，后面每一站都在错的方向上用力。这一站的错大多不会当场亏钱，而是三个月后才显形。</a:t>
            </a:r>
            <a:endParaRPr lang="en-US" sz="15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11094415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566160"/>
                <a:gridCol w="3566160"/>
                <a:gridCol w="341345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88900" marB="889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常见错误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88900" marB="889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最坏会怎样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88900" marB="889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怎么防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88900" marB="889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6B77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01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88900" marB="889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看别人哪条路火就跟哪条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88900" marB="889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A538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没有那条路要的资源，三个月零产出，钱和信心一起耗光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88900" marB="889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 1.5 校验过的三张牌选路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88900" marB="889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6B77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02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88900" marB="889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把形容词当资源："我人脉广""我有客户"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88900" marB="889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A538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all in 一条不存在的路，比分散做还危险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88900" marB="889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过真实性校验，形容词一律换成数字（1.5）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88900" marB="889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6B77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03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88900" marB="889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一上来做全品类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88900" marB="889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A538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每类都判不准、估不准、出不掉，看走眼的概率成倍放大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88900" marB="889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先做透一个品类（1.7）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88900" marB="889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6B77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04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88900" marB="889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新手从高价腕表、彩宝玉石、文玩字画切入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88900" marB="889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A538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一单看走眼就是几个月的利润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88900" marB="889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按品类风险排序选（5.7），走安全通道（1.6）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88900" marB="889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6B77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05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88900" marB="889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先租店、装修、囤货，再找客户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88900" marB="889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A538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固定成本和库存压死现金流，没开张先亏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88900" marB="889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零库存起步，门店是跑通之后的事（1.6）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88900" marB="889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6B77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06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88900" marB="889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只算差价，不算周转、损耗和风险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88900" marB="889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A538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账面赚钱，实际亏钱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88900" marB="889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全口径算账，风险成本按比例计提（1.4）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88900" marB="889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6B77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07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88900" marB="889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没写止损线就开始收货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88900" marB="889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A538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一单大货直接出局，连续亏损停不下来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88900" marB="889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签下止损线与风险敞口确认单（1.6）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88900" marB="889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1.11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0669219" y="658368"/>
            <a:ext cx="973836" cy="384048"/>
          </a:xfrm>
          <a:prstGeom prst="roundRect">
            <a:avLst>
              <a:gd name="adj" fmla="val 14286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69219" y="658368"/>
            <a:ext cx="973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1.11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585655" y="658368"/>
            <a:ext cx="973836" cy="384048"/>
          </a:xfrm>
          <a:prstGeom prst="roundRect">
            <a:avLst>
              <a:gd name="adj" fmla="val 14286"/>
            </a:avLst>
          </a:prstGeom>
          <a:solidFill>
            <a:srgbClr val="F3DFDA"/>
          </a:solidFill>
          <a:ln w="12700">
            <a:solidFill>
              <a:srgbClr val="F3DFD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585655" y="658368"/>
            <a:ext cx="973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538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风控 新增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457200"/>
            <a:ext cx="773856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本站风控：定位阶段最常见的错（续）</a:t>
            </a:r>
            <a:endParaRPr lang="en-US" sz="28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566160"/>
                <a:gridCol w="3566160"/>
                <a:gridCol w="341345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#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88900" marB="889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常见错误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88900" marB="889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最坏会怎样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88900" marB="889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怎么防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88900" marB="889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7D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6B77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08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88900" marB="889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跳过安全通道，第一个月就自收大单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88900" marB="889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A538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单笔损失超过承受能力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88900" marB="889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按三个阶段放开敞口（1.6）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88900" marB="889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6B77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09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88900" marB="889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鉴定师、回收老板、上门服务几个人设混着做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88900" marB="889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A538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客户记不住你是谁，信任建立不起来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88900" marB="889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选一个人设（1.7）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88900" marB="889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6B77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88900" marB="889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个人账户大额收付，公私混用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88900" marB="889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A538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流水异常被银行风控冻卡，税务说不清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88900" marB="889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起步就分账（1.9）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88900" marB="889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6B77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88900" marB="889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和亲友合伙不签协议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88900" marB="889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A538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闹掰时货、客户、账号分不清，生意和关系一起没了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88900" marB="889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先签合伙协议再开工（1.9）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88900" marB="889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6B77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88900" marB="889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把 all in 当成押上身家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88900" marB="889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A538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输一次就没有第二次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88900" marB="889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all in 的是时间和注意力，预算只动"亏掉不影响生活"的那部分（1.5）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88900" marB="889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6B777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88900" marB="889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17231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暂定定位当成最终答案，或者三天一换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88900" marB="889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A538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前者选错了不回头，后者永远在起步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88900" marB="889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4A59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暂定 → 结营校准 → 30 天数据验证（1.7、7.2）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01600" marR="101600" marT="88900" marB="88900" anchor="ctr">
                    <a:lnL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solidFill>
            <a:srgbClr val="17231E"/>
          </a:solidFill>
          <a:ln w="12700">
            <a:solidFill>
              <a:srgbClr val="1723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1.11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0669219" y="658368"/>
            <a:ext cx="973836" cy="384048"/>
          </a:xfrm>
          <a:prstGeom prst="roundRect">
            <a:avLst>
              <a:gd name="adj" fmla="val 14286"/>
            </a:avLst>
          </a:prstGeom>
          <a:solidFill>
            <a:srgbClr val="EFE7D4"/>
          </a:solidFill>
          <a:ln w="12700">
            <a:solidFill>
              <a:srgbClr val="EFE7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69219" y="658368"/>
            <a:ext cx="973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 1.11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585655" y="658368"/>
            <a:ext cx="973836" cy="384048"/>
          </a:xfrm>
          <a:prstGeom prst="roundRect">
            <a:avLst>
              <a:gd name="adj" fmla="val 14286"/>
            </a:avLst>
          </a:prstGeom>
          <a:solidFill>
            <a:srgbClr val="F3DFDA"/>
          </a:solidFill>
          <a:ln w="12700">
            <a:solidFill>
              <a:srgbClr val="F3DFD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585655" y="658368"/>
            <a:ext cx="9738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538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风控 新增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457200"/>
            <a:ext cx="773856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 · 找错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48640" y="1828800"/>
            <a:ext cx="5364328" cy="292608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680" y="21031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2971800"/>
            <a:ext cx="47242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给五个学员画像（资源、资金、打算），每人找出每个画像里的定位错误，并说出该改成什么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6278728" y="1828800"/>
            <a:ext cx="5364328" cy="2926080"/>
          </a:xfrm>
          <a:prstGeom prst="rect">
            <a:avLst/>
          </a:prstGeom>
          <a:solidFill>
            <a:srgbClr val="F2F4EF"/>
          </a:solidFill>
          <a:ln w="12700">
            <a:solidFill>
              <a:srgbClr val="F2F4E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98768" y="21031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8F6E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6598768" y="2971800"/>
            <a:ext cx="47242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自己的定位方案两两交换，互相挑错，挑出来的写进自己的风险地图</a:t>
            </a:r>
            <a:endParaRPr lang="en-US" sz="1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723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第一站 · 出课标准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90472"/>
            <a:ext cx="329184" cy="329184"/>
          </a:xfrm>
          <a:prstGeom prst="ellipse">
            <a:avLst/>
          </a:prstGeom>
          <a:solidFill>
            <a:srgbClr val="E3C98F"/>
          </a:solidFill>
          <a:ln w="12700">
            <a:solidFill>
              <a:srgbClr val="E3C98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90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371600"/>
            <a:ext cx="4815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校验过的资源盘点表（圈出经得起数字检验的三张牌）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278728" y="1490472"/>
            <a:ext cx="329184" cy="329184"/>
          </a:xfrm>
          <a:prstGeom prst="ellipse">
            <a:avLst/>
          </a:prstGeom>
          <a:solidFill>
            <a:srgbClr val="E3C98F"/>
          </a:solidFill>
          <a:ln w="12700">
            <a:solidFill>
              <a:srgbClr val="E3C98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78728" y="1490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781648" y="1371600"/>
            <a:ext cx="4815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填完的测算表（含风险成本）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267712"/>
            <a:ext cx="329184" cy="329184"/>
          </a:xfrm>
          <a:prstGeom prst="ellipse">
            <a:avLst/>
          </a:prstGeom>
          <a:solidFill>
            <a:srgbClr val="E3C98F"/>
          </a:solidFill>
          <a:ln w="12700">
            <a:solidFill>
              <a:srgbClr val="E3C98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267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148840"/>
            <a:ext cx="4815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一条暂定的起步路径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78728" y="2267712"/>
            <a:ext cx="329184" cy="329184"/>
          </a:xfrm>
          <a:prstGeom prst="ellipse">
            <a:avLst/>
          </a:prstGeom>
          <a:solidFill>
            <a:srgbClr val="E3C98F"/>
          </a:solidFill>
          <a:ln w="12700">
            <a:solidFill>
              <a:srgbClr val="E3C98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78728" y="2267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781648" y="2148840"/>
            <a:ext cx="4815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写下止损线和第一阶段风险敞口的确认单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3044952"/>
            <a:ext cx="329184" cy="329184"/>
          </a:xfrm>
          <a:prstGeom prst="ellipse">
            <a:avLst/>
          </a:prstGeom>
          <a:solidFill>
            <a:srgbClr val="E3C98F"/>
          </a:solidFill>
          <a:ln w="12700">
            <a:solidFill>
              <a:srgbClr val="E3C98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0449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2926080"/>
            <a:ext cx="4815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经营主体与分账方案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278728" y="3044952"/>
            <a:ext cx="329184" cy="329184"/>
          </a:xfrm>
          <a:prstGeom prst="ellipse">
            <a:avLst/>
          </a:prstGeom>
          <a:solidFill>
            <a:srgbClr val="E3C98F"/>
          </a:solidFill>
          <a:ln w="12700">
            <a:solidFill>
              <a:srgbClr val="E3C98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78728" y="30449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781648" y="2926080"/>
            <a:ext cx="4815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F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一张标出自己最可能踩的三类风险的风险地图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38862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3C9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38912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B8C2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定位诊断表（17 张可填写的表，含下列各表）· 行业链路图 · 认知升级对照表（九个误解） · 资源盘点表与校验清单 · 单店测算表（含行业基准区间与风险成本）· 品类对比表 · 新手安全通道路线图 · 前 30 天分路径预期表 · 全课风险地图 · 八份协议总览 · 合伙协议模板 · 税务合规要点手册（主体与资质篇）· 定位错误清单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第一站 · 定位</dc:title>
  <dc:subject>PptxGenJS Presentation</dc:subject>
  <dc:creator>PptxGenJS</dc:creator>
  <cp:lastModifiedBy>PptxGenJS</cp:lastModifiedBy>
  <cp:revision>1</cp:revision>
  <dcterms:created xsi:type="dcterms:W3CDTF">2026-09-28T08:31:34Z</dcterms:created>
  <dcterms:modified xsi:type="dcterms:W3CDTF">2026-09-28T08:31:34Z</dcterms:modified>
</cp:coreProperties>
</file>